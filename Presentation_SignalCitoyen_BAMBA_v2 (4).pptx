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3" r:id="rId15"/>
    <p:sldId id="268" r:id="rId16"/>
    <p:sldId id="269" r:id="rId17"/>
    <p:sldId id="270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D4A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B3D4A"/>
                </a:solidFill>
                <a:latin typeface="Arial"/>
              </a:rPr>
              <a:t>Revenus vs charges (millions FCFA)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45</c:v>
                </c:pt>
                <c:pt idx="2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75-4CD1-9C47-D7E1F39981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Charges</c:v>
                </c:pt>
              </c:strCache>
            </c:strRef>
          </c:tx>
          <c:spPr>
            <a:solidFill>
              <a:srgbClr val="F4791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Année 1</c:v>
                </c:pt>
                <c:pt idx="1">
                  <c:v>Année 2</c:v>
                </c:pt>
                <c:pt idx="2">
                  <c:v>Année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34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75-4CD1-9C47-D7E1F39981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291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16A6AE">
              <a:alpha val="2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5603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DE FIN DE CYCLE POUR L’OBTENTION DU MASTER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067967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Conception et développement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d'une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application mobile de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signalement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citoyen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: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d’une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plateforme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de gestion de la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salubrité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, de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l’eau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et de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l’assainissement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</a:t>
            </a:r>
            <a:r>
              <a:rPr lang="en-US" sz="40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Côte D’Ivoire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731520" y="4579107"/>
            <a:ext cx="128016" cy="141732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4481983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Présenté et soutenu par :  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Aboubacar Toumani (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Master 2 Informatique Développement </a:t>
            </a:r>
            <a:r>
              <a:rPr lang="en-US" sz="15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d’Applications</a:t>
            </a: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485928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Sous la direction de :  </a:t>
            </a:r>
            <a:r>
              <a:rPr lang="en-US" sz="1400" b="1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ALAIN CAPO CHICHI (</a:t>
            </a:r>
            <a:r>
              <a:rPr lang="fr-FR" sz="1400" b="1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Maître assistant des Universités du Cames en Génie informatique)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5306273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Établissement : </a:t>
            </a:r>
            <a:r>
              <a:rPr lang="en-US" sz="1400" dirty="0" err="1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</a:t>
            </a: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400" dirty="0" err="1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566395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Année </a:t>
            </a:r>
            <a:r>
              <a:rPr lang="en-US" sz="1400" dirty="0" err="1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académique</a:t>
            </a:r>
            <a:r>
              <a:rPr lang="en-US" sz="14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2024 – 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0" y="5989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A545A-1743-E1BA-30F9-2ED7AD3D5CC7}"/>
              </a:ext>
            </a:extLst>
          </p:cNvPr>
          <p:cNvSpPr/>
          <p:nvPr/>
        </p:nvSpPr>
        <p:spPr>
          <a:xfrm>
            <a:off x="105508" y="115854"/>
            <a:ext cx="1661746" cy="10484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535830D-759D-B89D-7FA6-A359AD08C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324" y="51436"/>
            <a:ext cx="1908644" cy="1112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44752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12140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229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identification du problème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277977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82296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44752" y="27797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438144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2296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4752" y="3438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et résultats attendus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0965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2296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44752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méthodologique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4752" y="4754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existantes &amp; solution proposée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22960" y="541324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82296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44752" y="5413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de différenciation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1463040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5836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05472" y="14630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Faisabilité &amp; conception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0" y="2121408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5836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05472" y="21214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technique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2779776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58368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05472" y="27797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0" y="3438144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58368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05472" y="3438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vente &amp; concurrence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583680" y="4096512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6583680" y="4096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05472" y="40965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financières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583680" y="4754880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5836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05472" y="4754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583680" y="5413248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583680" y="5413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205472" y="54132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Annonce du sujet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fr-FR" sz="14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Côte d’Ivoire, signaler un problème de salubrité revient à appeler un numéro vert sans retour, poster sur les réseaux sociaux sans suivi, ou se déplacer à la mairie avec un registre papier. Il manque un canal simple, traçable et automatisé entre le citoyen et les services techniques. C’est l’objet de ce projet.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 thème 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146304" cy="146304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87552" y="4160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Santé publique —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Insalubrité et eaux usées favorisent maladies et inondations.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773168"/>
            <a:ext cx="146304" cy="146304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87552" y="4727448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Canal manquant —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moyen simple et traçable pour alerter les autorités.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5340096"/>
            <a:ext cx="146304" cy="146304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987552" y="5294376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Levier mobile — </a:t>
            </a: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pénétration du smartphone en Côte d'Ivoire.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23760" y="1645920"/>
            <a:ext cx="4480560" cy="4206240"/>
          </a:xfrm>
          <a:prstGeom prst="roundRect">
            <a:avLst>
              <a:gd name="adj" fmla="val 1739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498080" y="196596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 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498080" y="267919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habitants à Abidjan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3246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app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498080" y="395935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eau · assainissement · déchets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452628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4 h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7498080" y="5239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des cas critiques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ET IDENTIFICATION DU PROBLÈME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signalement lent, opaque et non traçable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les problèmes de salubrité se signalent par téléphone, courrier ou bouche-à-oreille — sans preuve ni suivi.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9728" cy="27432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Constat terrain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Signalements informels, sans géolocalisation ni traçabilité.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53128" y="22860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453128" y="2286000"/>
            <a:ext cx="109728" cy="274320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727448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Côté citoyen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27448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la réception ni le traitement. Perte de confiance.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74736" y="228600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174736" y="2286000"/>
            <a:ext cx="109728" cy="274320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449056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Côté autorités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449056" y="320040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cartographie ni de priorisation : pilotage difficile.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4023360" cy="402336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F4791F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1463040" cy="54864"/>
          </a:xfrm>
          <a:prstGeom prst="rect">
            <a:avLst/>
          </a:prstGeom>
          <a:solidFill>
            <a:srgbClr val="16A6A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digitaliser le signalement citoyen en matière de salubrité, d’eau et d’assainissement, avec routage automatique, suivi transparent et escalade des cas critiques 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200" i="1" dirty="0">
                <a:solidFill>
                  <a:srgbClr val="C9E4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/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OBJECTIFS ET RÉSULTATS ATTENDUS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projet doit accomplir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960120" y="17099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GÉNÉRAL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97510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Digitaliser et fluidifier la gestion de la salubrité, de l'eau et de l'assainissement via une plateforme mobile de signalement citoyen.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spécifiques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12724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731520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12724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géolocalisé avec photos en moins d'une minute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63016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31520" y="36301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630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automatique vers le service compétent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13308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transparent du statut, de la réception à la résolution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63600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31520" y="46360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6360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automatique des incidents critiques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1520" y="5138928"/>
            <a:ext cx="329184" cy="32918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31520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13892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de pilotage pour les autorités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23760" y="269748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452360" y="28529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Résultats attendus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5236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18120" y="329184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fonctionnelle (citoyen + admin + agent)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52360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18120" y="380390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Acheminement automatisé, sans intervention humaine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52360" y="4315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18120" y="431596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Délai de prise en charge réduit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52360" y="4828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818120" y="4828032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et auditable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53400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818120" y="534009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 pour les collectivités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DÉMARCHE MÉTHODOLOGIQUE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approche agile et itérative — inspirée de Scrum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084832" cy="64008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3152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des besoins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terrain, user stories, recensement des acteurs (citoyen, agent, admin).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6148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8036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880360" y="2103120"/>
            <a:ext cx="2084832" cy="640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88036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9008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2666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UML (use case, séquence, déploiement), architecture, maquettage.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032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2920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029200" y="2103120"/>
            <a:ext cx="2084832" cy="64008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3892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7550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FastAPI, MongoDB, app React Native.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916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17804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178040" y="2103120"/>
            <a:ext cx="2084832" cy="64008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717804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28776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2434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unitaires, d’intégration et validation des parcours métier.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208008" y="2971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326880" y="210312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9326880" y="2103120"/>
            <a:ext cx="2084832" cy="64008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9326880" y="2157984"/>
            <a:ext cx="2084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436608" y="2880360"/>
            <a:ext cx="1865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73184" y="3566160"/>
            <a:ext cx="179222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et passage à l'échelle.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ÉTAT DES LIEUX &amp; SOLUTION PROPOSÉE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existe vs ce que nous apportons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existantes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68680" y="2185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verts / appels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preuve, pas de géolocalisation, aucun suivi.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3099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1181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structurés, non routés, noyés dans le flux.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868680" y="4014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40325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Plateformes génériques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adaptées à l'eau/assainissement ni au contexte local.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9204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68680" y="4928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4690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des mairies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Manuels, non centralisés, peu exploitables.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583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1671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SignalCitoyen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7889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 mobile géolocalisé, spécialisé salubrité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33924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339242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automatique selon type &amp; zone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399592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temps réel pour le citoyen (push)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4599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49440" y="459943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automatique des cas critiques (SLA 4 h)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0" y="5202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49440" y="520293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pour les autorités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AXE DE DIFFÉRENCIATION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L'innovation : une architecture événementielle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les autres s'arrêtent à la collecte, SignalCitoyen automatise tout le cycle de traitement.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2496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Routage intelligent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Affectation automatique à l'équipe (type + zone).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53128" y="2240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681728" y="2468880"/>
            <a:ext cx="457200" cy="45720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68172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76088" y="2496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Escalade SLA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81728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 du superviseur si cas critique non traité sous 4 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74736" y="22402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403336" y="246888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403336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97696" y="24963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multicanal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03336" y="30632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citoyen, SMS agent, e-mail à la résolution.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960120" y="43434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9601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54480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Priorisation auto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à risque marqués URGENT dès la création.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53128" y="4114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681728" y="4343400"/>
            <a:ext cx="457200" cy="457200"/>
          </a:xfrm>
          <a:prstGeom prst="ellipse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681728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76088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Traçabilité &amp; audit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81728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événement journalisé et auditable.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74736" y="41148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8403336" y="4343400"/>
            <a:ext cx="457200" cy="45720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8403336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97696" y="4370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Cartographie temps réel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403336" y="493776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géolocalisés pour piloter les interventions.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ÉTUDE DE FAISABILITÉ &amp; CONCEPTION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projet viable, une architecture claire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2542032" cy="9144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89611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9611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89611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open-source éprouvées, prototype réalisé.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429000" y="1691640"/>
            <a:ext cx="2542032" cy="914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59359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Économique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9359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59359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9359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maîtrisés, modèle B2G/B2B soutenable.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126480" y="1691640"/>
            <a:ext cx="2542032" cy="9144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29107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Organisationnelle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9107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29107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Maîtrisée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9107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S'intègre aux services techniques existants.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23960" y="1691640"/>
            <a:ext cx="25420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8823960" y="1691640"/>
            <a:ext cx="2542032" cy="91440"/>
          </a:xfrm>
          <a:prstGeom prst="rect">
            <a:avLst/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8988552" y="18745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Sociale &amp; légale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88552" y="2286000"/>
            <a:ext cx="1097280" cy="347472"/>
          </a:xfrm>
          <a:prstGeom prst="roundRect">
            <a:avLst>
              <a:gd name="adj" fmla="val 13158"/>
            </a:avLst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988552" y="22860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88552" y="272491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utilité publique, données limitées.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générale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31520" y="4160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822960" y="4315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mobile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96112" y="47548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 + Admin</a:t>
            </a:r>
            <a:endParaRPr lang="en-US" sz="1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 / Expo)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89120" y="4160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480560" y="4315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&amp; logique métier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53712" y="47548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JWT</a:t>
            </a:r>
            <a:endParaRPr lang="en-US" sz="1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Routage · Notifs · Escalade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4160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8138160" y="431596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 &amp; services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11312" y="4754880"/>
            <a:ext cx="3054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Photos</a:t>
            </a:r>
            <a:endParaRPr lang="en-US" sz="11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E-mail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06908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72668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FONCTIONNEMENT : POINT DE VUE 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cycle de vie d'un signalement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60704" y="2258568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600200" y="1673352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Création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6916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du signalement (type, photos, GPS). Statut : REÇU.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404872"/>
            <a:ext cx="566928" cy="566928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2404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60704" y="2971800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1600200" y="2386584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828800" y="2404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Routage auto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0" y="2404872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+ équipe identifiées via RBAC (rôles : citoyen / agent / admin). Statut : ASSIGNÉ.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118104"/>
            <a:ext cx="566928" cy="566928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777240" y="3118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60704" y="3685032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600200" y="3099816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828800" y="311810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0" y="3118104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à l'agent, push de confirmation au citoyen.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831336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777240" y="38313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60704" y="4398264"/>
            <a:ext cx="0" cy="146304"/>
          </a:xfrm>
          <a:prstGeom prst="line">
            <a:avLst/>
          </a:prstGeom>
          <a:noFill/>
          <a:ln w="19050">
            <a:solidFill>
              <a:srgbClr val="5B6B7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600200" y="3813048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1828800" y="38313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Traitement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3831336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de l'équipe ; statut mis à jour jusqu'à RÉSOLU.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4544568"/>
            <a:ext cx="566928" cy="566928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77240" y="45445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600200" y="4526280"/>
            <a:ext cx="9784080" cy="603504"/>
          </a:xfrm>
          <a:prstGeom prst="roundRect">
            <a:avLst>
              <a:gd name="adj" fmla="val 12121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1828800" y="45445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Clôture / Escalade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544568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déclenche l’alerte superviseur si cas critique non traité en 4 h (pattern Scheduler/Observer).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5440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technique &amp; sécurité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576072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31520" y="5760720"/>
            <a:ext cx="1854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/ Expo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50515" y="5760720"/>
            <a:ext cx="1602029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2750515" y="5760720"/>
            <a:ext cx="160202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17136" y="5760720"/>
            <a:ext cx="844906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517136" y="5760720"/>
            <a:ext cx="84490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26634" y="5760720"/>
            <a:ext cx="1265530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526634" y="5760720"/>
            <a:ext cx="12655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56755" y="5760720"/>
            <a:ext cx="1181405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956755" y="5760720"/>
            <a:ext cx="118140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02752" y="576072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F2F6F7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8302752" y="5760720"/>
            <a:ext cx="185440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SMS · E-mail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DÉMONSTRATION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de la solution réalisée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Démonstration live — écrans clés de </a:t>
            </a:r>
            <a:r>
              <a:rPr lang="en-US" sz="1300" i="1" dirty="0" err="1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</a:t>
            </a: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868680" cy="1143000"/>
          </a:xfrm>
          <a:prstGeom prst="roundRect">
            <a:avLst>
              <a:gd name="adj" fmla="val 8421"/>
            </a:avLst>
          </a:prstGeom>
          <a:solidFill>
            <a:srgbClr val="0B3D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965960" y="23774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/ Connexion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citoyen, authentification JWT.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53128" y="20574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636008" y="2327148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687568" y="23774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signalement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description, photos, GPS auto.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74736" y="20574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8403336" y="233172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409176" y="237744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des incidents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Signalements géolocalisés.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931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960120" y="420624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965960" y="42519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signalements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et suivi du statut.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453128" y="3931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681728" y="420624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687568" y="42519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à chaque changement de statut.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174736" y="393192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8403336" y="4206240"/>
            <a:ext cx="868680" cy="1143000"/>
          </a:xfrm>
          <a:prstGeom prst="roundRect">
            <a:avLst>
              <a:gd name="adj" fmla="val 8421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9409176" y="42519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admin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Statistiques, filtres, mise à jour.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30951A11-308B-F549-8DE0-EDD3940509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799" y="2165403"/>
            <a:ext cx="1027577" cy="1550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BIS. PARCOURS AGENT DE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: exécuter et clôturer avec preuve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Compte créé par l'administration avec </a:t>
            </a: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agent</a:t>
            </a: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+ </a:t>
            </a:r>
            <a:r>
              <a:rPr lang="en-US" sz="12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team_id</a:t>
            </a: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(ex: EQUIPE_EAU_COCODY). À la connexion, accès direct à la file d'interventions de son équipe — et uniquement celle-ci.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06440" y="13258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agent — 3 onglets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06440" y="1737360"/>
            <a:ext cx="1874520" cy="1325880"/>
          </a:xfrm>
          <a:prstGeom prst="roundRect">
            <a:avLst>
              <a:gd name="adj" fmla="val 4828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0644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traiter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8064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assigned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863840" y="1737360"/>
            <a:ext cx="1874520" cy="1325880"/>
          </a:xfrm>
          <a:prstGeom prst="roundRect">
            <a:avLst>
              <a:gd name="adj" fmla="val 4828"/>
            </a:avLst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74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638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processing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921240" y="1737360"/>
            <a:ext cx="1874520" cy="1325880"/>
          </a:xfrm>
          <a:prstGeom prst="roundRect">
            <a:avLst>
              <a:gd name="adj" fmla="val 4828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4472" y="1874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21240" y="2377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Résolus (7j)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9921240" y="26974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 avec preuve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8064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rouge « URGENT » visible sans ouvrir le détail • Filtre automatique par équipe (team_id)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65760" y="3840480"/>
            <a:ext cx="11430000" cy="36576"/>
          </a:xfrm>
          <a:prstGeom prst="rect">
            <a:avLst/>
          </a:prstGeom>
          <a:solidFill>
            <a:srgbClr val="C9E4E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365760" y="3977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d'intervention en 3 étapes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65760" y="443484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8"/>
          <p:cNvSpPr/>
          <p:nvPr/>
        </p:nvSpPr>
        <p:spPr>
          <a:xfrm>
            <a:off x="530352" y="4590288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530352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461772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43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l'intervention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30352" y="51206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un ticket « À traiter », consulte photos + GPS du citoyen, puis appuie sur Démarrer. Statut → en cours. Le citoyen est notifié automatiquement.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224528" y="443484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4389120" y="4590288"/>
            <a:ext cx="502920" cy="502920"/>
          </a:xfrm>
          <a:prstGeom prst="ellipse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4"/>
          <p:cNvSpPr/>
          <p:nvPr/>
        </p:nvSpPr>
        <p:spPr>
          <a:xfrm>
            <a:off x="4389120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68" y="461772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01768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Intervenir sur le terrain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4389120" y="51206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se déplace et effectue la réparation / le nettoyage / la collecte selon le type d'incident signalé.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083296" y="4434840"/>
            <a:ext cx="3657600" cy="1783080"/>
          </a:xfrm>
          <a:prstGeom prst="roundRect">
            <a:avLst>
              <a:gd name="adj" fmla="val 3590"/>
            </a:avLst>
          </a:prstGeom>
          <a:solidFill>
            <a:srgbClr val="F2F6F7"/>
          </a:solidFill>
          <a:ln w="12700">
            <a:solidFill>
              <a:srgbClr val="C9E4E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28"/>
          <p:cNvSpPr/>
          <p:nvPr/>
        </p:nvSpPr>
        <p:spPr>
          <a:xfrm>
            <a:off x="8247888" y="4590288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29"/>
          <p:cNvSpPr/>
          <p:nvPr/>
        </p:nvSpPr>
        <p:spPr>
          <a:xfrm>
            <a:off x="8247888" y="4590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6536" y="4617720"/>
            <a:ext cx="411480" cy="41148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860536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Clôturer avec preuve photo</a:t>
            </a:r>
            <a:endParaRPr lang="en-US" sz="1350" dirty="0"/>
          </a:p>
        </p:txBody>
      </p:sp>
      <p:sp>
        <p:nvSpPr>
          <p:cNvPr id="39" name="Text 31"/>
          <p:cNvSpPr/>
          <p:nvPr/>
        </p:nvSpPr>
        <p:spPr>
          <a:xfrm>
            <a:off x="8247888" y="5120640"/>
            <a:ext cx="3337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Marquer comme résolu » → photo de preuve OBLIGATOIRE + notes optionnelles. Statut → résolu. Email + push au citoyen, alerte admin pour audit.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BIS. PARCOURS AGENT DE TERRAIN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du rôle agent : contraintes serveur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contrainte est appliquée côté serveur — pas seulement masquée dans l'interface.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Cloisonnement par équipe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ne voit que les tickets de son team_id. Toute requête sur un ticket d'une autre équipe est rejetée par l'API.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16916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6355080" y="19202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57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892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 photo obligatoire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55080" y="256032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clôture sans photo est techniquement bloquée côté serveur — sécurité anti-abus, pas une simple recommandation UI.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594360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3891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adaptée au rôle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94360" y="489204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onglets pour l'agent : Accueil, Carte, Interventions, Alertes, Profil. Pas de « Signaler » ni « Historique » — non pertinents pour ce rôle.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12648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355080" y="42519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3891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32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355080" y="4892040"/>
            <a:ext cx="5074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démarrage et chaque résolution génère un événement horodaté dans le journal d'audit MongoDB, consultable par l'administrateur.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11c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MARKETING, VENTE ET CONCURRENCE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Aller au marché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3520440" cy="54864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Citoyens · Mairies d’arrondissement · ANAGED · ONG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3128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453128" y="1691640"/>
            <a:ext cx="3520440" cy="54864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36008" y="1691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81728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SaaS · modules premium · maintenance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4736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174736" y="1691640"/>
            <a:ext cx="3520440" cy="548640"/>
          </a:xfrm>
          <a:prstGeom prst="rect">
            <a:avLst/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357616" y="169164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Canaux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03336" y="23774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· partenariats institutionnels · relais terrain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Positionnement face à la concurrence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69080"/>
          <a:ext cx="10698480" cy="1847088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Numéro vert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Réseaux sociaux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SignalCitoyen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Géolocalisation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Approximative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(GPS)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Routage automatique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Suivi du 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Temps réel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Pilotage / données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7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PRÉVISIONS FINANCIÈRES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Projection sur 3 ans (estimations)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83080"/>
          <a:ext cx="61264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78308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F2F6F7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7360920" y="19385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Hypothèses clés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60920" y="2331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49640" y="2331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SaaS + premium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293522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549640" y="29352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sur 3–5 communes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353872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549640" y="353872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Abidjan, 1ers contrats régies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60920" y="4142232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9640" y="414223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national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360920" y="4937760"/>
            <a:ext cx="3840480" cy="640080"/>
          </a:xfrm>
          <a:prstGeom prst="roundRect">
            <a:avLst>
              <a:gd name="adj" fmla="val 8571"/>
            </a:avLst>
          </a:prstGeom>
          <a:solidFill>
            <a:srgbClr val="2E9E5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360920" y="49377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Seuil de rentabilité 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fin Année 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Estimations indicatives — à affiner par une étude de marché.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28016" cy="713232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13232" y="41148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LIMITES DU PROJET &amp; PERSPECTIVES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3232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3D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Regard critique et suite à donner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2F6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actuelles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à Internet et au smartphone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303580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35808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SMS/e-mail simulées dans le prototype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369417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694176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doublons / abus à modérer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435254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352544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limitée aux zones d'Abidjan référencées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501091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2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5010912"/>
            <a:ext cx="4526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47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la réactivité des services techniques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0B3D4A"/>
          </a:solidFill>
          <a:ln/>
          <a:effectLst>
            <a:outerShdw blurRad="114300" dist="38100" dir="8100000" algn="bl" rotWithShape="0">
              <a:srgbClr val="0B3D4A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237744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réelles (Twilio / Orange SMS, e-mail)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303580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3035808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hors-ligne avec synchronisation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369417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3694176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du type d'incident par IA (photo)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46520" y="435254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4352544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Open-data public de la salubrité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46520" y="501091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5010912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6F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d'autres villes et services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— Soutenance de mémoire projet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0E7C86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-1005840" y="4572000"/>
            <a:ext cx="3108960" cy="3108960"/>
          </a:xfrm>
          <a:prstGeom prst="ellipse">
            <a:avLst/>
          </a:prstGeom>
          <a:solidFill>
            <a:srgbClr val="F4791F">
              <a:alpha val="2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4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2344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outil citoyen au service de la salubrité publique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D7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 automatise l'acheminement, le suivi et la priorisation des signalements grâce à une architecture événementielle — un prototype fonctionnel, utile et différenciant.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A323D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051560" y="3401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 atteints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Signalement, routage, suivi, escalade, dashboard.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A323D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663440" y="3401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innovation utile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L'automatisation événementielle fait la différence.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324612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0A323D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275320" y="34015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6A6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impact social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8862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9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Transparence et confiance citoyen–autorités.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2194560" cy="45720"/>
          </a:xfrm>
          <a:prstGeom prst="rect">
            <a:avLst/>
          </a:prstGeom>
          <a:solidFill>
            <a:srgbClr val="F4791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BAMBA Aboubacar Toumani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 err="1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SignalCitoyen</a:t>
            </a:r>
            <a:r>
              <a:rPr lang="en-US" sz="1100" dirty="0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· Année </a:t>
            </a:r>
            <a:r>
              <a:rPr lang="en-US" sz="1100" dirty="0" err="1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académique</a:t>
            </a:r>
            <a:r>
              <a:rPr lang="en-US" sz="1100" dirty="0">
                <a:solidFill>
                  <a:srgbClr val="8FB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2024–2025 — Je reste à votre disposition pour vos questions.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1823</Words>
  <Application>Microsoft Office PowerPoint</Application>
  <PresentationFormat>Grand écran</PresentationFormat>
  <Paragraphs>379</Paragraphs>
  <Slides>18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- SignalCitoyen</dc:title>
  <dc:subject>PptxGenJS Presentation</dc:subject>
  <dc:creator>BAMBA Aboubacar Toumani</dc:creator>
  <cp:lastModifiedBy>Toumani Bamba</cp:lastModifiedBy>
  <cp:revision>9</cp:revision>
  <dcterms:created xsi:type="dcterms:W3CDTF">2026-06-11T17:27:24Z</dcterms:created>
  <dcterms:modified xsi:type="dcterms:W3CDTF">2026-06-28T20:12:57Z</dcterms:modified>
</cp:coreProperties>
</file>