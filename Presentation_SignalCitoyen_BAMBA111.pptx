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4A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B3D4A"/>
                </a:solidFill>
                <a:latin typeface="Arial"/>
              </a:rPr>
              <a:t>Revenus vs charges (millions FCFA)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45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5-4CD1-9C47-D7E1F39981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Charges</c:v>
                </c:pt>
              </c:strCache>
            </c:strRef>
          </c:tx>
          <c:spPr>
            <a:solidFill>
              <a:srgbClr val="F479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34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75-4CD1-9C47-D7E1F39981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91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16A6A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DE CYCLE POUR L’OBTENTION DU MASTER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67967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 et développement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application mobile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signalement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citoyen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d’une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gestion de la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salubrité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l’eau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l’assainissement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Côte D’Ivoire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4579107"/>
            <a:ext cx="128016" cy="141732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4481983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et soutenu par :  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Aboubacar Toumani (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Master 2 Informatique Développement 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d’Applications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485928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direction de :  </a:t>
            </a:r>
            <a:r>
              <a:rPr lang="en-US" sz="1400" b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ALAIN CAPO CHICHI (</a:t>
            </a:r>
            <a:r>
              <a:rPr lang="fr-FR" sz="1400" b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assistant des Universités du Cames en Génie informatique)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306273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: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</a:t>
            </a: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66395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académique</a:t>
            </a: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– 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0" y="5989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A545A-1743-E1BA-30F9-2ED7AD3D5CC7}"/>
              </a:ext>
            </a:extLst>
          </p:cNvPr>
          <p:cNvSpPr/>
          <p:nvPr/>
        </p:nvSpPr>
        <p:spPr>
          <a:xfrm>
            <a:off x="105508" y="115854"/>
            <a:ext cx="1661746" cy="1048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535830D-759D-B89D-7FA6-A359AD08C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324" y="51436"/>
            <a:ext cx="1908644" cy="1112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214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identification du problème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44752" y="2779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381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4752" y="3438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résultats attendus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44752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méthodologique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&amp; solution proposée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2296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44752" y="5413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différenciation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0547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 &amp; conception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2121408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836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05472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technique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2779776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8368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05472" y="2779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3438144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58368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05472" y="3438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vente &amp; concurrence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0" y="4096512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5836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5472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financières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475488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05472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83680" y="5413248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58368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05472" y="5413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Annonce du sujet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quoi parle ce projet ?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mobile qui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tout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signaler,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géolocalisé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secondes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salubrité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eau,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assainissement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déchets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voirie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acheminé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service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compétent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 thème 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87552" y="4160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publique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Insalubrité et eaux usées favorisent maladies et inondations.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773168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47274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manquant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moyen simple et traçable pour alerter les autorités.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340096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87552" y="52943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mobile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pénétration du smartphone en Côte d'Ivoire.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164592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98080" y="1965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498080" y="2679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à Abidjan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246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app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498080" y="39593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· assainissement · déchets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4526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4 h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498080" y="5239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des cas critiques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IDENTIFICATION DU PROBLÈME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signalement lent, opaque et non traçable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les problèmes de salubrité se signalent par téléphone, courrier ou bouche-à-oreille — sans preuve ni suivi.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9728" cy="27432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Constat terrain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Signalements informels, sans géolocalisation ni traçabilité.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453128" y="2286000"/>
            <a:ext cx="109728" cy="274320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27448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Côté citoyen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27448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la réception ni le traitement. Perte de confiance.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4736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174736" y="2286000"/>
            <a:ext cx="109728" cy="2743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449056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Côté autorités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49056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cartographie ni de priorisation : pilotage difficile.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023360" cy="402336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F4791F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463040" cy="54864"/>
          </a:xfrm>
          <a:prstGeom prst="rect">
            <a:avLst/>
          </a:prstGeom>
          <a:solidFill>
            <a:srgbClr val="16A6A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concevoir une solution mobile permettant au citoyen de signaler facilement un problème de salubrité, d'eau ou d'assainissement,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C9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en garantissant l'acheminement automatique vers le bon service, un suivi transparent et le traitement prioritaire des cas critiques 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OBJECTIFS ET RÉSULTATS ATTENDUS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projet doit accomplir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6012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975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Digitaliser et fluidifier la gestion de la salubrité, de l'eau et de l'assainissement via une plateforme mobile de signalement citoyen.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spécifiques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2724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1272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géolocalisé avec photos en moins d'une minute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3016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630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automatique vers le service compétent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13308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transparent du statut, de la réception à la résolution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63600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6360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automatique des incidents critiques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13892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1389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 pilotage pour les autorités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23760" y="269748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45236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8120" y="32918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fonctionnelle (citoyen + admin + agent)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18120" y="38039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Acheminement automatisé, sans intervention humaine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18120" y="43159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prise en charge réduit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18120" y="4828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et auditable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5340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818120" y="53400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 pour les collectivités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DÉMARCHE MÉTHODOLOGIQUE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approche agile et itérative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besoins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terrain, recensement des incidents et acteurs.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148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880360" y="2103120"/>
            <a:ext cx="2084832" cy="640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8036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9008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UML, architecture, maquettage.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02920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3892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7550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FastAPI, MongoDB, app React Native.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7804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178040" y="2103120"/>
            <a:ext cx="2084832" cy="640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17804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8776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2434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&amp; d'intégration.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800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32688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932688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32688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43660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7318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et passage à l'échelle.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ÉTAT DES LIEUX &amp; SOLUTION PROPOSÉE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existe vs ce que nous apportons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verts / appels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preuve, pas de géolocalisation, aucun suivi.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181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structurés, non routés, noyés dans le flux.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325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génériques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adaptées à l'eau/assainissement ni au contexte local.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6868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469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des mairies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Manuels, non centralisés, peu exploitables.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583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67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SignalCitoyen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788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mobile géolocalisé, spécialisé salubrité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3392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automatique selon type &amp; zone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temps réel pour le citoyen (push)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5994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automatique des cas critiques (SLA 4 h)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5202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520293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pour les autorités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AXE DE DIFFÉRENCIATION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L'innovation : une architecture événementielle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les autres s'arrêtent à la collecte, SignalCitoyen automatise tout le cycle de traitement.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Routage intelligent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automatique à l'équipe (type + zone).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81728" y="246888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8172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Escalade SLA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du superviseur si cas critique non traité sous 4 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4736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403336" y="246888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403336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97696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multicanal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03336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citoyen, SMS agent, e-mail à la résolution.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Priorisation auto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à risque marqués URGENT dès la création.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53128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81728" y="4343400"/>
            <a:ext cx="457200" cy="457200"/>
          </a:xfrm>
          <a:prstGeom prst="ellipse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8172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Traçabilité &amp; audit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81728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journalisé et auditable.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74736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8403336" y="434340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403336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97696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Cartographie temps réel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03336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géolocalisés pour piloter les interventions.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ÉTUDE DE FAISABILITÉ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projet viable, une architecture claire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2542032" cy="914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9611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9611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open-source éprouvées, prototype réalisé.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29000" y="1691640"/>
            <a:ext cx="2542032" cy="914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9359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Économique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9359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59359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359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maîtrisés, modèle B2G/B2B soutenable.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542032" cy="9144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9107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Organisationnelle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9107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9107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S'intègre aux services techniques existants.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823960" y="1691640"/>
            <a:ext cx="2542032" cy="9144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98855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Sociale &amp; légale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98855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8855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utilité publique, données limitées.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générale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229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 + Admin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 / Expo)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4805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logique métier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· Notifs · Escalade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1381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&amp;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113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Photos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E-mail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6908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72668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FONCTIONNEMENT : POINT DE VUE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de vie d'un signalement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60704" y="2258568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600200" y="1673352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du signalement (type, photos, GPS). Statut : REÇU.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404872"/>
            <a:ext cx="566928" cy="566928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0704" y="2971800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600200" y="2386584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828800" y="2404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Routage auto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40487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+ équipe identifiées, priorité fixée. Statut : ASSIGNÉ.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118104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0704" y="3685032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600200" y="3099816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828800" y="31181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11810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à l'agent, push de confirmation au citoyen.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83133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77240" y="3831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0704" y="4398264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600200" y="381304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828800" y="38313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383133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de l'équipe ; statut mis à jour jusqu'à RÉSOLU.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4544568"/>
            <a:ext cx="566928" cy="566928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77240" y="4544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600200" y="4526280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828800" y="4544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Clôture / Escalade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54456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push au citoyen ; alerte superviseur si &gt; 4 h.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7607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31520" y="57607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50515" y="5760720"/>
            <a:ext cx="1602029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50515" y="5760720"/>
            <a:ext cx="160202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17136" y="5760720"/>
            <a:ext cx="844906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17136" y="5760720"/>
            <a:ext cx="8449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26634" y="5760720"/>
            <a:ext cx="1265530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526634" y="5760720"/>
            <a:ext cx="12655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56755" y="5760720"/>
            <a:ext cx="1181405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956755" y="5760720"/>
            <a:ext cx="118140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02752" y="57607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302752" y="57607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E-mail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de la solution réalisée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— écrans clés de </a:t>
            </a:r>
            <a:r>
              <a:rPr lang="en-US" sz="1300" i="1" dirty="0" err="1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965960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citoyen, authentification JWT.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53128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36008" y="2327148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87568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signalement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description, photos, GPS auto.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74736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403336" y="233172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409176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incidents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Signalements géolocalisés.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60120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965960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signalements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suivi du statut.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53128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81728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687568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à chaque changement de statut.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174736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403336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9409176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admin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Statistiques, filtres, mise à jour.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30951A11-308B-F549-8DE0-EDD3940509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799" y="2165403"/>
            <a:ext cx="1027577" cy="1550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BIS. PARCOURS AGENT DE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: exécuter et clôturer avec preuve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créé par l'administration avec </a:t>
            </a: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agent</a:t>
            </a: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team_id</a:t>
            </a: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(ex: EQUIPE_EAU_COCODY). À la connexion, accès direct à la file d'interventions de son équipe — et uniquement celle-ci.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0644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agent — 3 onglets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assigned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8638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processing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9212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1874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212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Résolus (7j)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9212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 avec preuve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8064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rouge « URGENT » visible sans ouvrir le détail • Filtre automatique par équipe (team_id)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840480"/>
            <a:ext cx="11430000" cy="36576"/>
          </a:xfrm>
          <a:prstGeom prst="rect">
            <a:avLst/>
          </a:prstGeom>
          <a:solidFill>
            <a:srgbClr val="C9E4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365760" y="3977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d'intervention en 3 étapes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530352" y="45902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530352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6177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l'intervention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0352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un ticket « À traiter », consulte photos + GPS du citoyen, puis appuie sur Démarrer. Statut → en cours. Le citoyen est notifié automatiquement.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24528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4389120" y="4590288"/>
            <a:ext cx="502920" cy="50292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438912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61772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01768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sur le terrain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389120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se déplace et effectue la réparation / le nettoyage / la collecte selon le type d'incident signalé.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83296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8247888" y="4590288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9"/>
          <p:cNvSpPr/>
          <p:nvPr/>
        </p:nvSpPr>
        <p:spPr>
          <a:xfrm>
            <a:off x="8247888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6536" y="461772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60536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Clôturer avec preuve photo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247888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Marquer comme résolu » → photo de preuve OBLIGATOIRE + notes optionnelles. Statut → résolu. Email + push au citoyen, alerte admin pour audit.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BIS. PARCOURS AGENT DE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du rôle agent : contraintes serveur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contrainte est appliquée côté serveur — pas seulement masquée dans l'interface.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par équipe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ne voit que les tickets de son team_id. Toute requête sur un ticket d'une autre équipe est rejetée par l'API.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355080" y="19202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photo obligatoire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55080" y="25603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clôture sans photo est techniquement bloquée côté serveur — sécurité anti-abus, pas une simple recommandation UI.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594360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9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adaptée au rôle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94360" y="48920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onglets pour l'agent : Accueil, Carte, Interventions, Alertes, Profil. Pas de « Signaler » ni « Historique » — non pertinents pour ce rôle.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2648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355080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355080" y="48920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démarrage et chaque résolution génère un événement horodaté dans le journal d'audit MongoDB, consultable par l'administrateur.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MARKETING, VENTE ET CONCURRENCE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 au marché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52044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Citoyens · Mairies · Régies (ONAD, SODECI) · ONG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53128" y="1691640"/>
            <a:ext cx="3520440" cy="54864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36008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SaaS · modules premium · maintenance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174736" y="1691640"/>
            <a:ext cx="3520440" cy="5486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357616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03336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· partenariats institutionnels · relais terrain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Positionnement face à la concurrence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69080"/>
          <a:ext cx="10698480" cy="184708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Numéro vert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Réseaux sociaux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SignalCitoyen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Géolocalisation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(GPS)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Routage automatique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du 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Pilotage /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PRÉVISIONS FINANCIÈRES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sur 3 ans (estimations)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83080"/>
          <a:ext cx="6126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78308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6092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Hypothèses clés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2331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SaaS + premium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293522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29352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sur 3–5 communes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353872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49640" y="3538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Abidjan, 1ers contrats régies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60920" y="41422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9640" y="4142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national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60920" y="49377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360920" y="4937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fin Année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Estimations indicatives — à affiner par une étude de marché.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LIMITES DU PROJET &amp; PERSPECTIVES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Regard critique et suite à donner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2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Internet et au smartphone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0358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SMS/e-mail simulées dans le prototype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6941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69417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doublons / abus à modérer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43525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35254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limitée aux zones d'Abidjan référencées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01091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la réactivité des services techniques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3774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réelles (Twilio / Orange SMS, e-mail)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30358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0358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 avec synchronisation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36941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69417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 type d'incident par IA (photo)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43525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35254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Open-data public de la salubrité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50109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01091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d'autres villes et services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005840" y="4572000"/>
            <a:ext cx="3108960" cy="3108960"/>
          </a:xfrm>
          <a:prstGeom prst="ellipse">
            <a:avLst/>
          </a:prstGeom>
          <a:solidFill>
            <a:srgbClr val="F4791F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outil citoyen au service de la salubrité publique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automatise l'acheminement, le suivi et la priorisation des signalements grâce à une architecture événementielle — un prototype fonctionnel, utile et différenciant.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5156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atteints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Signalement, routage, suivi, escalade,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6344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innovation utile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événementielle fait la différence.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7532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impact social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et confiance citoyen–autorités.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2194560" cy="4572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Aboubacar Toumani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</a:t>
            </a:r>
            <a:r>
              <a:rPr lang="en-US" sz="110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Année </a:t>
            </a:r>
            <a:r>
              <a:rPr lang="en-US" sz="1100" dirty="0" err="1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académique</a:t>
            </a:r>
            <a:r>
              <a:rPr lang="en-US" sz="110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2024–2025 — Je reste à votre disposition pour vos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1823</Words>
  <Application>Microsoft Office PowerPoint</Application>
  <PresentationFormat>Grand écran</PresentationFormat>
  <Paragraphs>379</Paragraphs>
  <Slides>18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SignalCitoyen</dc:title>
  <dc:subject>PptxGenJS Presentation</dc:subject>
  <dc:creator>BAMBA Aboubacar Toumani</dc:creator>
  <cp:lastModifiedBy>Toumani Bamba</cp:lastModifiedBy>
  <cp:revision>9</cp:revision>
  <dcterms:created xsi:type="dcterms:W3CDTF">2026-06-11T17:27:24Z</dcterms:created>
  <dcterms:modified xsi:type="dcterms:W3CDTF">2026-06-28T20:12:57Z</dcterms:modified>
</cp:coreProperties>
</file>